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0069c98df043b5" /><Relationship Type="http://schemas.openxmlformats.org/officeDocument/2006/relationships/extended-properties" Target="/docProps/app.xml" Id="R94a111e4ebf34717" /><Relationship Type="http://schemas.openxmlformats.org/officeDocument/2006/relationships/officeDocument" Target="/ppt/presentation.xml" Id="R9221deeebc2f4f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43ec76781d4fd5"/>
  </p:sldMasterIdLst>
  <p:notesMasterIdLst>
    <p:notesMasterId xmlns:r="http://schemas.openxmlformats.org/officeDocument/2006/relationships" r:id="Rf5cdbbca8f094a90"/>
  </p:notesMasterIdLst>
  <p:sldIdLst>
    <p:sldId xmlns:r="http://schemas.openxmlformats.org/officeDocument/2006/relationships" id="256" r:id="R585383eb09684067"/>
    <p:sldId xmlns:r="http://schemas.openxmlformats.org/officeDocument/2006/relationships" id="257" r:id="R4fe48bf0efcc4c41"/>
    <p:sldId xmlns:r="http://schemas.openxmlformats.org/officeDocument/2006/relationships" id="258" r:id="R0e49157f956b4d35"/>
    <p:sldId xmlns:r="http://schemas.openxmlformats.org/officeDocument/2006/relationships" id="259" r:id="R54f1761b113e4e3c"/>
    <p:sldId xmlns:r="http://schemas.openxmlformats.org/officeDocument/2006/relationships" id="260" r:id="R33d9f6fbd5cd40ce"/>
    <p:sldId xmlns:r="http://schemas.openxmlformats.org/officeDocument/2006/relationships" id="261" r:id="R025b9e691a674dd1"/>
    <p:sldId xmlns:r="http://schemas.openxmlformats.org/officeDocument/2006/relationships" id="262" r:id="Rc37db98404744b61"/>
    <p:sldId xmlns:r="http://schemas.openxmlformats.org/officeDocument/2006/relationships" id="263" r:id="R6f127791e36e4fed"/>
    <p:sldId xmlns:r="http://schemas.openxmlformats.org/officeDocument/2006/relationships" id="264" r:id="R7429fb3bc3874a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4f460f10d14e73" /><Relationship Type="http://schemas.openxmlformats.org/officeDocument/2006/relationships/slideMaster" Target="/ppt/slideMasters/slideMaster1.xml" Id="Rac43ec76781d4fd5" /><Relationship Type="http://schemas.openxmlformats.org/officeDocument/2006/relationships/notesMaster" Target="/ppt/notesMasters/notesMaster1.xml" Id="Rf5cdbbca8f094a90" /><Relationship Type="http://schemas.openxmlformats.org/officeDocument/2006/relationships/presProps" Target="/ppt/presProps.xml" Id="R9f1ef6ab20ec4ea9" /><Relationship Type="http://schemas.openxmlformats.org/officeDocument/2006/relationships/tableStyles" Target="/ppt/tableStyles.xml" Id="R7b7d1c708eb84d23" /><Relationship Type="http://schemas.openxmlformats.org/officeDocument/2006/relationships/slide" Target="/ppt/slides/slide1.xml" Id="R585383eb09684067" /><Relationship Type="http://schemas.openxmlformats.org/officeDocument/2006/relationships/slide" Target="/ppt/slides/slide2.xml" Id="R4fe48bf0efcc4c41" /><Relationship Type="http://schemas.openxmlformats.org/officeDocument/2006/relationships/slide" Target="/ppt/slides/slide3.xml" Id="R0e49157f956b4d35" /><Relationship Type="http://schemas.openxmlformats.org/officeDocument/2006/relationships/slide" Target="/ppt/slides/slide4.xml" Id="R54f1761b113e4e3c" /><Relationship Type="http://schemas.openxmlformats.org/officeDocument/2006/relationships/slide" Target="/ppt/slides/slide5.xml" Id="R33d9f6fbd5cd40ce" /><Relationship Type="http://schemas.openxmlformats.org/officeDocument/2006/relationships/slide" Target="/ppt/slides/slide6.xml" Id="R025b9e691a674dd1" /><Relationship Type="http://schemas.openxmlformats.org/officeDocument/2006/relationships/slide" Target="/ppt/slides/slide7.xml" Id="Rc37db98404744b61" /><Relationship Type="http://schemas.openxmlformats.org/officeDocument/2006/relationships/slide" Target="/ppt/slides/slide8.xml" Id="R6f127791e36e4fed" /><Relationship Type="http://schemas.openxmlformats.org/officeDocument/2006/relationships/slide" Target="/ppt/slides/slide9.xml" Id="R7429fb3bc3874a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6a906434614f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3b9a1695cf4b90" /><Relationship Type="http://schemas.openxmlformats.org/officeDocument/2006/relationships/notesMaster" Target="/ppt/notesMasters/notesMaster1.xml" Id="R16e0103757164f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ec2cfe206841fb" /><Relationship Type="http://schemas.openxmlformats.org/officeDocument/2006/relationships/notesMaster" Target="/ppt/notesMasters/notesMaster1.xml" Id="R56612164135243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6a9c4d5bab4f3a" /><Relationship Type="http://schemas.openxmlformats.org/officeDocument/2006/relationships/notesMaster" Target="/ppt/notesMasters/notesMaster1.xml" Id="R6eceb16185514a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1e112a5bde4fa8" /><Relationship Type="http://schemas.openxmlformats.org/officeDocument/2006/relationships/notesMaster" Target="/ppt/notesMasters/notesMaster1.xml" Id="Rd1a749a6d68248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f2058f9d404ac2" /><Relationship Type="http://schemas.openxmlformats.org/officeDocument/2006/relationships/notesMaster" Target="/ppt/notesMasters/notesMaster1.xml" Id="Rc18641f0883b44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f01c36250b401a" /><Relationship Type="http://schemas.openxmlformats.org/officeDocument/2006/relationships/notesMaster" Target="/ppt/notesMasters/notesMaster1.xml" Id="Rd4950eb43b834f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f38c20d1f04599" /><Relationship Type="http://schemas.openxmlformats.org/officeDocument/2006/relationships/notesMaster" Target="/ppt/notesMasters/notesMaster1.xml" Id="R191e7e61f2c14e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9d26e21b8f40ec" /><Relationship Type="http://schemas.openxmlformats.org/officeDocument/2006/relationships/notesMaster" Target="/ppt/notesMasters/notesMaster1.xml" Id="Rb4eba4e393c346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629cba318b4f0c" /><Relationship Type="http://schemas.openxmlformats.org/officeDocument/2006/relationships/notesMaster" Target="/ppt/notesMasters/notesMaster1.xml" Id="R04372ef6972d44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Repository: README.md; docs/presentation_10min.md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Repository: immunology_pipeline.md;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Repository: agents/agent00_orchestrator/AGENTS.md; backend/app/orchestrator.py; docs/architecture.md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Repository: AGENTS.md; agents/*/AGENTS.md; skills/*/SKILL.md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Repository: agents/agent00_orchestrator/AGENTS.md; backend/app/main.py; frontend/src/pages/LaunchPage.tsx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Repository: data/graphs/ibd/; data/sessions/ibd_20260713T171442Z/; docs/presentation_demo_script.md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Repository: agents/agent10_novelty_verification/AGENTS.md; skills/novelty-verification-protocol/SKILL.md; graph/novelty_audit.json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Repository: docs/REPRODUCIBILITY.md; backend/tests/; frontend/src/pages/EvalDashboardPage.tsx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Repository: docs/presentation_demo_script.md; docs/REPRODUCIBILITY.md;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a5fab67cd24b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046321cb0441eb" /><Relationship Type="http://schemas.openxmlformats.org/officeDocument/2006/relationships/slideLayout" Target="/ppt/slideLayouts/slideLayout1.xml" Id="R3cac582f86f347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ac582f86f347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36a3ce32246bd" /><Relationship Type="http://schemas.openxmlformats.org/officeDocument/2006/relationships/notesSlide" Target="/ppt/notesSlides/notesSlide1.xml" Id="R99b7b0ef649d44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521b4c2524d65" /><Relationship Type="http://schemas.openxmlformats.org/officeDocument/2006/relationships/notesSlide" Target="/ppt/notesSlides/notesSlide2.xml" Id="Rd98760c63fcc40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7ca39ba234cd6" /><Relationship Type="http://schemas.openxmlformats.org/officeDocument/2006/relationships/notesSlide" Target="/ppt/notesSlides/notesSlide3.xml" Id="R129f27a3a93948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721439b8e487c" /><Relationship Type="http://schemas.openxmlformats.org/officeDocument/2006/relationships/notesSlide" Target="/ppt/notesSlides/notesSlide4.xml" Id="R4cd6dc46465744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cb9e7872b414f" /><Relationship Type="http://schemas.openxmlformats.org/officeDocument/2006/relationships/notesSlide" Target="/ppt/notesSlides/notesSlide5.xml" Id="Rd0c76530e03247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becfa29f04d14" /><Relationship Type="http://schemas.openxmlformats.org/officeDocument/2006/relationships/notesSlide" Target="/ppt/notesSlides/notesSlide6.xml" Id="R88979f3748724e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e5e4626c74eab" /><Relationship Type="http://schemas.openxmlformats.org/officeDocument/2006/relationships/notesSlide" Target="/ppt/notesSlides/notesSlide7.xml" Id="R7548d17c20b448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1126bbee94295" /><Relationship Type="http://schemas.openxmlformats.org/officeDocument/2006/relationships/notesSlide" Target="/ppt/notesSlides/notesSlide8.xml" Id="R13c577470c924b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9e3b9432149af" /><Relationship Type="http://schemas.openxmlformats.org/officeDocument/2006/relationships/notesSlide" Target="/ppt/notesSlides/notesSlide9.xml" Id="Rbea321624f2745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3F9E5-8C7F-425C-819F-7FEF0301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CAUSALATLAS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F3C6E-FE48-433D-AB59-9FA16335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4213D"/>
                </a:solidFill>
              </a:defRPr>
            </a:pPr>
            <a:r>
              <a:rPr sz="4050" b="1">
                <a:solidFill>
                  <a:srgbClr val="14213D"/>
                </a:solidFill>
              </a:rPr>
              <a:t>Do not ask an LLM</a:t>
            </a:r>
          </a:p>
          <a:p xmlns:a="http://schemas.openxmlformats.org/drawingml/2006/main">
            <a:pPr>
              <a:defRPr sz="4050" b="1">
                <a:solidFill>
                  <a:srgbClr val="14213D"/>
                </a:solidFill>
              </a:defRPr>
            </a:pPr>
            <a:r>
              <a:rPr sz="4050" b="1">
                <a:solidFill>
                  <a:srgbClr val="14213D"/>
                </a:solidFill>
              </a:rPr>
              <a:t>for a discovery.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D57FA-2653-4C21-9285-30774FA0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Ask a sequence of agents to earn 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9B321-C567-4867-9739-78686644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3143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6B20F5-5124-41AB-8ED6-828CE58F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6212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4213D"/>
                </a:solidFill>
              </a:defRPr>
            </a:pPr>
            <a:r>
              <a:rPr sz="1650" b="1">
                <a:solidFill>
                  <a:srgbClr val="14213D"/>
                </a:solidFill>
              </a:rPr>
              <a:t>disease + target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BFFB3-447C-4315-B1CE-2E645829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C2984-4719-452E-9614-9C781438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67000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766E"/>
                </a:solidFill>
              </a:defRPr>
            </a:pPr>
            <a:r>
              <a:rPr sz="1650" b="1">
                <a:solidFill>
                  <a:srgbClr val="0F766E"/>
                </a:solidFill>
              </a:rPr>
              <a:t>evidence trail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42178-8A34-4E14-9BF3-7D5C3D30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956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2B8DF-8336-421A-AE49-32A5BEC4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71875"/>
            <a:ext cx="2333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2410C"/>
                </a:solidFill>
              </a:defRPr>
            </a:pPr>
            <a:r>
              <a:rPr sz="1650" b="1">
                <a:solidFill>
                  <a:srgbClr val="C2410C"/>
                </a:solidFill>
              </a:rPr>
              <a:t>falsifiable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37561-C2DB-4B3D-A535-37958F7E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67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2627A"/>
                </a:solidFill>
              </a:defRPr>
            </a:pPr>
            <a:r>
              <a:rPr sz="1200">
                <a:solidFill>
                  <a:srgbClr val="52627A"/>
                </a:solidFill>
              </a:rPr>
              <a:t>Final project · Vertical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13472-74C4-4A9D-9870-FB33A56C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27A"/>
                </a:solidFill>
              </a:defRPr>
            </a:pPr>
            <a:r>
              <a:rPr sz="825">
                <a:solidFill>
                  <a:srgbClr val="52627A"/>
                </a:solidFill>
              </a:rPr>
              <a:t>CausalAtlas · auditable mechanistic reasoning</a:t>
            </a:r>
          </a:p>
        </p:txBody>
      </p:sp>
    </p:spTree>
    <p:extLst>
      <p:ext uri="{BB962C8B-B14F-4D97-AF65-F5344CB8AC3E}">
        <p14:creationId xmlns:p14="http://schemas.microsoft.com/office/powerpoint/2010/main" val="1830840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A6C3C-4802-4735-94A8-30CF6B18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A86BB-3AA9-4791-8534-E24DD0E5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13D"/>
                </a:solidFill>
              </a:defRPr>
            </a:pPr>
            <a:r>
              <a:rPr sz="2625" b="1">
                <a:solidFill>
                  <a:srgbClr val="14213D"/>
                </a:solidFill>
              </a:rPr>
              <a:t>A fluent answer is not a novelty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111AE-BC36-4677-B1DA-DFBB79B1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27A"/>
                </a:solidFill>
              </a:defRPr>
            </a:pPr>
            <a:r>
              <a:rPr sz="1200" b="1">
                <a:solidFill>
                  <a:srgbClr val="52627A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9FD44-6EC5-402B-AB0F-58CFD2C1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008B2-3CC7-4590-9728-E5476555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Search 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5CA8A-2DD3-465F-8CC6-C6DE9497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27A"/>
                </a:solidFill>
              </a:defRPr>
            </a:pPr>
            <a:r>
              <a:rPr sz="1350">
                <a:solidFill>
                  <a:srgbClr val="52627A"/>
                </a:solidFill>
              </a:rPr>
              <a:t>Year bands, query diversity and metadata can be uneven.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A884E-3B40-47AE-ADCD-0EDD422A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4857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2DED8-05EC-4736-A27E-A8C3D97F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193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Corpus bias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A7C3C-19B6-4A42-ABFA-76844C7F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27A"/>
                </a:solidFill>
              </a:defRPr>
            </a:pPr>
            <a:r>
              <a:rPr sz="1350">
                <a:solidFill>
                  <a:srgbClr val="52627A"/>
                </a:solidFill>
              </a:rPr>
              <a:t>The papers that generate a candidate cannot clear its novelty.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C9C7D-0283-4F34-BA91-FC5C02EA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4857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22D1B-08B7-437D-8475-64838D5A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Provenance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0A59B-14D2-4A2B-9B8B-2BE246EC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27A"/>
                </a:solidFill>
              </a:defRPr>
            </a:pPr>
            <a:r>
              <a:rPr sz="1350">
                <a:solidFill>
                  <a:srgbClr val="52627A"/>
                </a:solidFill>
              </a:rPr>
              <a:t>A plausible sentence does not create a PMID-backed causal edge.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05867C-C3AF-451B-9DE9-EE622FF8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24250"/>
            <a:ext cx="4857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3B5A5-877E-4E97-9BD4-46234ABFF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338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2410C"/>
                </a:solidFill>
              </a:defRPr>
            </a:pPr>
            <a:r>
              <a:rPr sz="1800" b="1">
                <a:solidFill>
                  <a:srgbClr val="C2410C"/>
                </a:solidFill>
              </a:rPr>
              <a:t>Falsification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CD6207-1287-42AF-8FC5-DB5AF872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1480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27A"/>
                </a:solidFill>
              </a:defRPr>
            </a:pPr>
            <a:r>
              <a:rPr sz="1350">
                <a:solidFill>
                  <a:srgbClr val="52627A"/>
                </a:solidFill>
              </a:rPr>
              <a:t>A narrative answer rarely states what would reject 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2251B9-C6BB-4B5E-8D94-9F6A0797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The design response: make every claim pass a visible control before it moves downstream.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96F4B2-37E3-4C43-9900-6B3BB6D0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27A"/>
                </a:solidFill>
              </a:defRPr>
            </a:pPr>
            <a:r>
              <a:rPr sz="825">
                <a:solidFill>
                  <a:srgbClr val="52627A"/>
                </a:solidFill>
              </a:rPr>
              <a:t>CausalAtlas · auditable mechanistic reasoning</a:t>
            </a:r>
          </a:p>
        </p:txBody>
      </p:sp>
    </p:spTree>
    <p:extLst>
      <p:ext uri="{BB962C8B-B14F-4D97-AF65-F5344CB8AC3E}">
        <p14:creationId xmlns:p14="http://schemas.microsoft.com/office/powerpoint/2010/main" val="18651028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A5309B-3C31-41A4-9996-CCB91B28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AGENTIC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4C96D-64E1-4A96-99DC-433F8123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13D"/>
                </a:solidFill>
              </a:defRPr>
            </a:pPr>
            <a:r>
              <a:rPr sz="2625" b="1">
                <a:solidFill>
                  <a:srgbClr val="14213D"/>
                </a:solidFill>
              </a:rPr>
              <a:t>The pipeline earns a claim in stages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67916-E6BD-47D4-A53B-ADA2B0E5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27A"/>
                </a:solidFill>
              </a:defRPr>
            </a:pPr>
            <a:r>
              <a:rPr sz="1200" b="1">
                <a:solidFill>
                  <a:srgbClr val="52627A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D3B12-A9F3-4595-A014-A291F6B7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3362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F4E62-8901-47C8-BD18-14C30258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01–05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33C46-9C3F-4761-AB36-F98A277B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Build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1630F-2B6F-4BBB-B374-73C824D9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27A"/>
                </a:solidFill>
              </a:defRPr>
            </a:pPr>
            <a:r>
              <a:rPr sz="1275">
                <a:solidFill>
                  <a:srgbClr val="52627A"/>
                </a:solidFill>
              </a:rPr>
              <a:t>baseline · retrieve · verify · quality · extract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0286E-59BC-4E60-A911-7317EB9D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813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27A"/>
                </a:solidFill>
              </a:defRPr>
            </a:pPr>
            <a:r>
              <a:rPr sz="1800" b="1">
                <a:solidFill>
                  <a:srgbClr val="5262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37EFB-3E30-4C12-8EA1-77B6442B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52625"/>
            <a:ext cx="233362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69456-4652-449F-B95C-5E92044B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717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06–09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39295F-D149-4BEF-9721-804DD2C9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479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Structure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38FA6-625E-4DAC-A73E-3F5EE0B5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3850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27A"/>
                </a:solidFill>
              </a:defRPr>
            </a:pPr>
            <a:r>
              <a:rPr sz="1275">
                <a:solidFill>
                  <a:srgbClr val="52627A"/>
                </a:solidFill>
              </a:rPr>
              <a:t>graph · loops · topology · contradictions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2AEF4-358A-4A9F-B81D-4160171B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7813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27A"/>
                </a:solidFill>
              </a:defRPr>
            </a:pPr>
            <a:r>
              <a:rPr sz="1800" b="1">
                <a:solidFill>
                  <a:srgbClr val="5262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C1994-F885-4AED-9B53-A23403BE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52625"/>
            <a:ext cx="233362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BC3ED-36DC-4FA6-93CB-26D8CFE3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410C"/>
                </a:solidFill>
              </a:defRPr>
            </a:pPr>
            <a:r>
              <a:rPr sz="1350" b="1">
                <a:solidFill>
                  <a:srgbClr val="C2410C"/>
                </a:solidFill>
              </a:rPr>
              <a:t>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86461B-976C-404D-87A7-0742DA5A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479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Challenge novelty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ED115-EC79-49B8-922E-EA8E2DA4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27A"/>
                </a:solidFill>
              </a:defRPr>
            </a:pPr>
            <a:r>
              <a:rPr sz="1275">
                <a:solidFill>
                  <a:srgbClr val="52627A"/>
                </a:solidFill>
              </a:rPr>
              <a:t>restatement test + independent 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CD52C-A17F-4E57-A433-0B510821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813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27A"/>
                </a:solidFill>
              </a:defRPr>
            </a:pPr>
            <a:r>
              <a:rPr sz="1800" b="1">
                <a:solidFill>
                  <a:srgbClr val="52627A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14C2BD-E1E5-4F59-A072-3D1C31E2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52625"/>
            <a:ext cx="233362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B83096-C680-45BC-875F-1C48994B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7170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13D"/>
                </a:solidFill>
              </a:defRPr>
            </a:pPr>
            <a:r>
              <a:rPr sz="1350" b="1">
                <a:solidFill>
                  <a:srgbClr val="14213D"/>
                </a:solidFill>
              </a:rPr>
              <a:t>11–13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C9FE87-3EA4-4973-BDF4-B584054B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47950"/>
            <a:ext cx="195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Challenge and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71D51E-CBA0-439F-9C67-5F727CC7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2627A"/>
                </a:solidFill>
              </a:defRPr>
            </a:pPr>
            <a:r>
              <a:rPr sz="1275">
                <a:solidFill>
                  <a:srgbClr val="52627A"/>
                </a:solidFill>
              </a:rPr>
              <a:t>hypothesis · peer review · experiment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BDDC60-88BB-4968-A159-8CDB738B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Deterministic persistence and graph stages surround model judgment.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7CDE96-B85B-4364-A308-E93F0DBA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27A"/>
                </a:solidFill>
              </a:defRPr>
            </a:pPr>
            <a:r>
              <a:rPr sz="825">
                <a:solidFill>
                  <a:srgbClr val="52627A"/>
                </a:solidFill>
              </a:rPr>
              <a:t>CausalAtlas · auditable mechanistic reasoning</a:t>
            </a:r>
          </a:p>
        </p:txBody>
      </p:sp>
    </p:spTree>
    <p:extLst>
      <p:ext uri="{BB962C8B-B14F-4D97-AF65-F5344CB8AC3E}">
        <p14:creationId xmlns:p14="http://schemas.microsoft.com/office/powerpoint/2010/main" val="19111526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D314AD-1566-4156-97EA-CB78AFEF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CONTEXT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41603-5E5C-4DAC-A923-7D7EB44A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13D"/>
                </a:solidFill>
              </a:defRPr>
            </a:pPr>
            <a:r>
              <a:rPr sz="2625" b="1">
                <a:solidFill>
                  <a:srgbClr val="14213D"/>
                </a:solidFill>
              </a:rPr>
              <a:t>Contracts say who; skills say how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AB226-3ADC-4F36-ACCC-E0107A54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27A"/>
                </a:solidFill>
              </a:defRPr>
            </a:pPr>
            <a:r>
              <a:rPr sz="1200" b="1">
                <a:solidFill>
                  <a:srgbClr val="52627A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F29BA-4573-41E2-98A9-53CD6D0E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38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404AB-D374-4BEF-AEF0-37948D64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AGENTS.md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852F9-6977-48ED-86AE-72DC4026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13D"/>
                </a:solidFill>
              </a:defRPr>
            </a:pPr>
            <a:r>
              <a:rPr sz="1650">
                <a:solidFill>
                  <a:srgbClr val="14213D"/>
                </a:solidFill>
              </a:rPr>
              <a:t>Role</a:t>
            </a:r>
          </a:p>
          <a:p xmlns:a="http://schemas.openxmlformats.org/drawingml/2006/main">
            <a:pPr>
              <a:defRPr sz="1650">
                <a:solidFill>
                  <a:srgbClr val="14213D"/>
                </a:solidFill>
              </a:defRPr>
            </a:pPr>
            <a:r>
              <a:rPr sz="1650">
                <a:solidFill>
                  <a:srgbClr val="14213D"/>
                </a:solidFill>
              </a:rPr>
              <a:t>Inputs / outputs</a:t>
            </a:r>
          </a:p>
          <a:p xmlns:a="http://schemas.openxmlformats.org/drawingml/2006/main">
            <a:pPr>
              <a:defRPr sz="1650">
                <a:solidFill>
                  <a:srgbClr val="14213D"/>
                </a:solidFill>
              </a:defRPr>
            </a:pPr>
            <a:r>
              <a:rPr sz="1650">
                <a:solidFill>
                  <a:srgbClr val="14213D"/>
                </a:solidFill>
              </a:rPr>
              <a:t>Hard constraints</a:t>
            </a:r>
          </a:p>
          <a:p xmlns:a="http://schemas.openxmlformats.org/drawingml/2006/main">
            <a:pPr>
              <a:defRPr sz="1650">
                <a:solidFill>
                  <a:srgbClr val="14213D"/>
                </a:solidFill>
              </a:defRPr>
            </a:pPr>
            <a:r>
              <a:rPr sz="1650">
                <a:solidFill>
                  <a:srgbClr val="14213D"/>
                </a:solidFill>
              </a:rPr>
              <a:t>Failure rules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70FC5-BFBC-46EF-81D2-07CFD1DC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52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52627A"/>
                </a:solidFill>
              </a:defRPr>
            </a:pPr>
            <a:r>
              <a:rPr sz="2700" b="1">
                <a:solidFill>
                  <a:srgbClr val="52627A"/>
                </a:solidFill>
              </a:rPr>
              <a:t>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C5A70-8663-4EB3-9069-4D2540E7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323850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DFB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2E476-2240-4E73-A241-35231194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14312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SKILL.md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9327A-81AB-46A3-9611-5415FA63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85750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13D"/>
                </a:solidFill>
              </a:defRPr>
            </a:pPr>
            <a:r>
              <a:rPr sz="1650">
                <a:solidFill>
                  <a:srgbClr val="14213D"/>
                </a:solidFill>
              </a:rPr>
              <a:t>Reusable procedure</a:t>
            </a:r>
          </a:p>
          <a:p xmlns:a="http://schemas.openxmlformats.org/drawingml/2006/main">
            <a:pPr>
              <a:defRPr sz="1650">
                <a:solidFill>
                  <a:srgbClr val="14213D"/>
                </a:solidFill>
              </a:defRPr>
            </a:pPr>
            <a:r>
              <a:rPr sz="1650">
                <a:solidFill>
                  <a:srgbClr val="14213D"/>
                </a:solidFill>
              </a:rPr>
              <a:t>API / rate limits</a:t>
            </a:r>
          </a:p>
          <a:p xmlns:a="http://schemas.openxmlformats.org/drawingml/2006/main">
            <a:pPr>
              <a:defRPr sz="1650">
                <a:solidFill>
                  <a:srgbClr val="14213D"/>
                </a:solidFill>
              </a:defRPr>
            </a:pPr>
            <a:r>
              <a:rPr sz="1650">
                <a:solidFill>
                  <a:srgbClr val="14213D"/>
                </a:solidFill>
              </a:rPr>
              <a:t>Search protocol</a:t>
            </a:r>
          </a:p>
          <a:p xmlns:a="http://schemas.openxmlformats.org/drawingml/2006/main">
            <a:pPr>
              <a:defRPr sz="1650">
                <a:solidFill>
                  <a:srgbClr val="14213D"/>
                </a:solidFill>
              </a:defRPr>
            </a:pPr>
            <a:r>
              <a:rPr sz="1650">
                <a:solidFill>
                  <a:srgbClr val="14213D"/>
                </a:solidFill>
              </a:rPr>
              <a:t>Safety routing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67FA2C-C1C9-49A0-95C4-ACE7E93C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52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52627A"/>
                </a:solidFill>
              </a:defRPr>
            </a:pPr>
            <a:r>
              <a:rPr sz="2700" b="1">
                <a:solidFill>
                  <a:srgbClr val="52627A"/>
                </a:solidFill>
              </a:rPr>
              <a:t>=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6E96E-39A5-4A3F-9D2C-7CF23213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09750"/>
            <a:ext cx="2381250" cy="29527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CC76C-697B-486B-9C21-05ABED6B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76500"/>
            <a:ext cx="171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2410C"/>
                </a:solidFill>
              </a:defRPr>
            </a:pPr>
            <a:r>
              <a:rPr sz="2250" b="1">
                <a:solidFill>
                  <a:srgbClr val="C2410C"/>
                </a:solidFill>
              </a:rPr>
              <a:t>Auditable</a:t>
            </a:r>
          </a:p>
          <a:p xmlns:a="http://schemas.openxmlformats.org/drawingml/2006/main">
            <a:pPr algn="ctr">
              <a:defRPr sz="2250" b="1">
                <a:solidFill>
                  <a:srgbClr val="C2410C"/>
                </a:solidFill>
              </a:defRPr>
            </a:pPr>
            <a:r>
              <a:rPr sz="2250" b="1">
                <a:solidFill>
                  <a:srgbClr val="C2410C"/>
                </a:solidFill>
              </a:rPr>
              <a:t>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F44960-913B-442B-BD6A-F868315D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195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52627A"/>
                </a:solidFill>
              </a:defRPr>
            </a:pPr>
            <a:r>
              <a:rPr sz="1350">
                <a:solidFill>
                  <a:srgbClr val="52627A"/>
                </a:solidFill>
              </a:rPr>
              <a:t>Prompt context</a:t>
            </a:r>
          </a:p>
          <a:p xmlns:a="http://schemas.openxmlformats.org/drawingml/2006/main">
            <a:pPr algn="ctr">
              <a:defRPr sz="1350">
                <a:solidFill>
                  <a:srgbClr val="52627A"/>
                </a:solidFill>
              </a:defRPr>
            </a:pPr>
            <a:r>
              <a:rPr sz="1350">
                <a:solidFill>
                  <a:srgbClr val="52627A"/>
                </a:solidFill>
              </a:rPr>
              <a:t>that can be reviewed</a:t>
            </a:r>
          </a:p>
          <a:p xmlns:a="http://schemas.openxmlformats.org/drawingml/2006/main">
            <a:pPr algn="ctr">
              <a:defRPr sz="1350">
                <a:solidFill>
                  <a:srgbClr val="52627A"/>
                </a:solidFill>
              </a:defRPr>
            </a:pPr>
            <a:r>
              <a:rPr sz="1350">
                <a:solidFill>
                  <a:srgbClr val="52627A"/>
                </a:solidFill>
              </a:rPr>
              <a:t>and reproduced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B64DDA-8F13-4F3F-9857-24756950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27A"/>
                </a:solidFill>
              </a:defRPr>
            </a:pPr>
            <a:r>
              <a:rPr sz="825">
                <a:solidFill>
                  <a:srgbClr val="52627A"/>
                </a:solidFill>
              </a:rPr>
              <a:t>CausalAtlas · auditable mechanistic reasoning</a:t>
            </a:r>
          </a:p>
        </p:txBody>
      </p:sp>
    </p:spTree>
    <p:extLst>
      <p:ext uri="{BB962C8B-B14F-4D97-AF65-F5344CB8AC3E}">
        <p14:creationId xmlns:p14="http://schemas.microsoft.com/office/powerpoint/2010/main" val="19079216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1C8DA-A813-4E8D-83C1-871469C4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HUMAN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CFFC6-0C0C-48AF-87F6-B1C48B62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13D"/>
                </a:solidFill>
              </a:defRPr>
            </a:pPr>
            <a:r>
              <a:rPr sz="2625" b="1">
                <a:solidFill>
                  <a:srgbClr val="14213D"/>
                </a:solidFill>
              </a:rPr>
              <a:t>Autonomy changes execution policy—not scientific safety rules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D2DB9-BDA6-4464-AFAD-14D75AE5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27A"/>
                </a:solidFill>
              </a:defRPr>
            </a:pPr>
            <a:r>
              <a:rPr sz="1200" b="1">
                <a:solidFill>
                  <a:srgbClr val="52627A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F1DAF-BDF4-41F5-B49B-76633C57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A1B70-F5E7-4B13-998A-4B8F9D37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Autocomplete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148FE9-083C-4D9A-A5DD-EF84863C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51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Pause after every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C7EB1-1A65-4C11-BEB1-F2FCDF7A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27A"/>
                </a:solidFill>
              </a:defRPr>
            </a:pPr>
            <a:r>
              <a:rPr sz="1350">
                <a:solidFill>
                  <a:srgbClr val="52627A"/>
                </a:solidFill>
              </a:rPr>
              <a:t>Human reviews each hand-off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0E3A8-EF1A-47AD-BE1B-C44D4710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0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AB114-D9E0-4642-87ED-070614B0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860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63EB"/>
                </a:solidFill>
              </a:defRPr>
            </a:pPr>
            <a:r>
              <a:rPr sz="1875" b="1">
                <a:solidFill>
                  <a:srgbClr val="2563EB"/>
                </a:solidFill>
              </a:rPr>
              <a:t>Supervised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9ABDE-46CF-4535-A1FB-B331D11A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051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Pause at novelty + experiment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0B487A-E35A-4E71-88B9-888319B7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27A"/>
                </a:solidFill>
              </a:defRPr>
            </a:pPr>
            <a:r>
              <a:rPr sz="1350">
                <a:solidFill>
                  <a:srgbClr val="52627A"/>
                </a:solidFill>
              </a:rPr>
              <a:t>Human signs off high-risk decisions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8D58F-07A4-4208-9CDC-8D59E4D5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00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40328-9E51-4E2B-80F3-583CBD7F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8600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2410C"/>
                </a:solidFill>
              </a:defRPr>
            </a:pPr>
            <a:r>
              <a:rPr sz="1875" b="1">
                <a:solidFill>
                  <a:srgbClr val="C2410C"/>
                </a:solidFill>
              </a:rPr>
              <a:t>Let it rip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B89EF-1813-4D15-8109-B4054EF2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0512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213D"/>
                </a:solidFill>
              </a:defRPr>
            </a:pPr>
            <a:r>
              <a:rPr sz="1425" b="1">
                <a:solidFill>
                  <a:srgbClr val="14213D"/>
                </a:solidFill>
              </a:rPr>
              <a:t>No pauses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243FF0-9388-439E-B6FA-2B6D6A0D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19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27A"/>
                </a:solidFill>
              </a:defRPr>
            </a:pPr>
            <a:r>
              <a:rPr sz="1350">
                <a:solidFill>
                  <a:srgbClr val="52627A"/>
                </a:solidFill>
              </a:rPr>
              <a:t>Full trace remains inspectable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A49E1E-34E5-453F-B4DF-554488C1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13D"/>
                </a:solidFill>
              </a:defRPr>
            </a:pPr>
            <a:r>
              <a:rPr sz="1800" b="1">
                <a:solidFill>
                  <a:srgbClr val="14213D"/>
                </a:solidFill>
              </a:rPr>
              <a:t>Approval, rejection and edits are persisted as interventions.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555F0-FDC6-4883-8DA8-6E088DAF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27A"/>
                </a:solidFill>
              </a:defRPr>
            </a:pPr>
            <a:r>
              <a:rPr sz="825">
                <a:solidFill>
                  <a:srgbClr val="52627A"/>
                </a:solidFill>
              </a:rPr>
              <a:t>CausalAtlas · auditable mechanistic reasoning</a:t>
            </a:r>
          </a:p>
        </p:txBody>
      </p:sp>
    </p:spTree>
    <p:extLst>
      <p:ext uri="{BB962C8B-B14F-4D97-AF65-F5344CB8AC3E}">
        <p14:creationId xmlns:p14="http://schemas.microsoft.com/office/powerpoint/2010/main" val="18953200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A77217-F5B3-4CAE-A2CD-92E4416D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SCIENTIFIC OBJECT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FEAC0-BA91-40CF-A2DF-BAFE9CF6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13D"/>
                </a:solidFill>
              </a:defRPr>
            </a:pPr>
            <a:r>
              <a:rPr sz="2625" b="1">
                <a:solidFill>
                  <a:srgbClr val="14213D"/>
                </a:solidFill>
              </a:rPr>
              <a:t>The graph keeps the argument inspectable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218C7-46F6-4B6A-8261-730486AF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27A"/>
                </a:solidFill>
              </a:defRPr>
            </a:pPr>
            <a:r>
              <a:rPr sz="1200" b="1">
                <a:solidFill>
                  <a:srgbClr val="52627A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0C000-6325-42AE-830A-8765F91D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5722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F7B38-22C5-4AEA-8CF7-D77106F7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IBD + NOD2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60093-B79B-464F-9A92-1E3C2D5C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NOD2 variant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CC26E7-9A5E-4E79-B4EC-BA7D69D9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337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2627A"/>
                </a:solidFill>
              </a:defRPr>
            </a:pPr>
            <a:r>
              <a:rPr sz="1950" b="1">
                <a:solidFill>
                  <a:srgbClr val="5262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3ECDD-10BD-4D7A-9E4B-648613C2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NOD2–GIV / cAMP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F7E90-C4B1-48CF-BC12-EF88E621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337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2627A"/>
                </a:solidFill>
              </a:defRPr>
            </a:pPr>
            <a:r>
              <a:rPr sz="1950" b="1">
                <a:solidFill>
                  <a:srgbClr val="5262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3D225-8761-499E-B3FE-E44AB27A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2410C"/>
                </a:solidFill>
              </a:defRPr>
            </a:pPr>
            <a:r>
              <a:rPr sz="1500" b="1">
                <a:solidFill>
                  <a:srgbClr val="C2410C"/>
                </a:solidFill>
              </a:rPr>
              <a:t>barrier integrity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D15D2-DD9F-4ECD-9320-1C3D2E62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1962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2627A"/>
                </a:solidFill>
              </a:defRPr>
            </a:pPr>
            <a:r>
              <a:rPr sz="1275">
                <a:solidFill>
                  <a:srgbClr val="52627A"/>
                </a:solidFill>
              </a:rPr>
              <a:t>Each edge retains direction, confidence, species and source provenance.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275DD-45CA-43B4-96F0-989BC76B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3714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EDFB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BED52-0054-4750-A1E4-EE9821B3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What the researcher can inspect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EF97B6-9B40-4FF3-A170-0FD6C71B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09875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4213D"/>
                </a:solidFill>
              </a:defRPr>
            </a:pPr>
            <a:r>
              <a:rPr sz="1575">
                <a:solidFill>
                  <a:srgbClr val="14213D"/>
                </a:solidFill>
              </a:rPr>
              <a:t>• PMID evidence</a:t>
            </a:r>
          </a:p>
          <a:p xmlns:a="http://schemas.openxmlformats.org/drawingml/2006/main">
            <a:pPr>
              <a:defRPr sz="1575">
                <a:solidFill>
                  <a:srgbClr val="14213D"/>
                </a:solidFill>
              </a:defRPr>
            </a:pPr>
            <a:r>
              <a:rPr sz="1575">
                <a:solidFill>
                  <a:srgbClr val="14213D"/>
                </a:solidFill>
              </a:rPr>
              <a:t>• contradiction log</a:t>
            </a:r>
          </a:p>
          <a:p xmlns:a="http://schemas.openxmlformats.org/drawingml/2006/main">
            <a:pPr>
              <a:defRPr sz="1575">
                <a:solidFill>
                  <a:srgbClr val="14213D"/>
                </a:solidFill>
              </a:defRPr>
            </a:pPr>
            <a:r>
              <a:rPr sz="1575">
                <a:solidFill>
                  <a:srgbClr val="14213D"/>
                </a:solidFill>
              </a:rPr>
              <a:t>• weak / missing edges</a:t>
            </a:r>
          </a:p>
          <a:p xmlns:a="http://schemas.openxmlformats.org/drawingml/2006/main">
            <a:pPr>
              <a:defRPr sz="1575">
                <a:solidFill>
                  <a:srgbClr val="14213D"/>
                </a:solidFill>
              </a:defRPr>
            </a:pPr>
            <a:r>
              <a:rPr sz="1575">
                <a:solidFill>
                  <a:srgbClr val="14213D"/>
                </a:solidFill>
              </a:rPr>
              <a:t>• graph version</a:t>
            </a:r>
          </a:p>
          <a:p xmlns:a="http://schemas.openxmlformats.org/drawingml/2006/main">
            <a:pPr>
              <a:defRPr sz="1575">
                <a:solidFill>
                  <a:srgbClr val="14213D"/>
                </a:solidFill>
              </a:defRPr>
            </a:pPr>
            <a:r>
              <a:rPr sz="1575">
                <a:solidFill>
                  <a:srgbClr val="14213D"/>
                </a:solidFill>
              </a:rPr>
              <a:t>• pathogenesis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CE331-69DB-493F-BE84-DA639629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27A"/>
                </a:solidFill>
              </a:defRPr>
            </a:pPr>
            <a:r>
              <a:rPr sz="825">
                <a:solidFill>
                  <a:srgbClr val="52627A"/>
                </a:solidFill>
              </a:rPr>
              <a:t>CausalAtlas · auditable mechanistic reasoning</a:t>
            </a:r>
          </a:p>
        </p:txBody>
      </p:sp>
    </p:spTree>
    <p:extLst>
      <p:ext uri="{BB962C8B-B14F-4D97-AF65-F5344CB8AC3E}">
        <p14:creationId xmlns:p14="http://schemas.microsoft.com/office/powerpoint/2010/main" val="4833856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20EEE6-91EF-442F-992B-6EBF99C8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NOVELTY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52312-4561-4C77-B03D-DA8C911E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13D"/>
                </a:solidFill>
              </a:defRPr>
            </a:pPr>
            <a:r>
              <a:rPr sz="2625" b="1">
                <a:solidFill>
                  <a:srgbClr val="14213D"/>
                </a:solidFill>
              </a:rPr>
              <a:t>Only a documented D/E gap may become a hypothesis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0798B-1F1B-452F-A944-4F96182B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27A"/>
                </a:solidFill>
              </a:defRPr>
            </a:pPr>
            <a:r>
              <a:rPr sz="1200" b="1">
                <a:solidFill>
                  <a:srgbClr val="52627A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BF535-187E-4EFF-99D2-03EE0AE5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238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27FB5-71ED-43E4-A0B7-D3A28B71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752E4-F49F-4234-A0CE-97BAA095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956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Canonical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14459-C298-4ECF-A1B9-64E86418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241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27A"/>
                </a:solidFill>
              </a:defRPr>
            </a:pPr>
            <a:r>
              <a:rPr sz="1800" b="1">
                <a:solidFill>
                  <a:srgbClr val="5262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BFBD9-A4DD-4363-8D24-D03DACFE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90750"/>
            <a:ext cx="2238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6B399-DFD4-4B08-9310-D68F1250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76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8E287-CB78-4DF5-A296-DF9A1D9B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956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Restatement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485F6-CBCF-4F36-A240-EE32EB56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241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27A"/>
                </a:solidFill>
              </a:defRPr>
            </a:pPr>
            <a:r>
              <a:rPr sz="1800" b="1">
                <a:solidFill>
                  <a:srgbClr val="5262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99D37-083E-41BF-B870-9891D4A5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90750"/>
            <a:ext cx="2238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B0C13-F22B-4F58-A779-A986155B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2410C"/>
                </a:solidFill>
              </a:defRPr>
            </a:pPr>
            <a:r>
              <a:rPr sz="2250" b="1">
                <a:solidFill>
                  <a:srgbClr val="C2410C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F97FA3-1832-4377-9956-EF9B1165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956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Independent 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13F388-E69A-4E74-8706-C5C70081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27A"/>
                </a:solidFill>
              </a:defRPr>
            </a:pPr>
            <a:r>
              <a:rPr sz="1800" b="1">
                <a:solidFill>
                  <a:srgbClr val="52627A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F80630-89B2-4726-8C9C-CDAD5BEF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90750"/>
            <a:ext cx="2238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5E8"/>
          </a:solidFill>
          <a:ln xmlns:a="http://schemas.openxmlformats.org/drawingml/2006/main" w="9525">
            <a:solidFill>
              <a:srgbClr val="1421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B50DBF-3DBB-4B63-9142-DB754635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76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13D"/>
                </a:solidFill>
              </a:defRPr>
            </a:pPr>
            <a:r>
              <a:rPr sz="2250" b="1">
                <a:solidFill>
                  <a:srgbClr val="14213D"/>
                </a:solidFill>
              </a:rPr>
              <a:t>A–E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B0CBEF-4DF1-4ECB-B670-A30DAE37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956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213D"/>
                </a:solidFill>
              </a:defRPr>
            </a:pPr>
            <a:r>
              <a:rPr sz="1500" b="1">
                <a:solidFill>
                  <a:srgbClr val="14213D"/>
                </a:solidFill>
              </a:rPr>
              <a:t>Route, do not guess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58B80-334C-4A21-9B2B-5FD5447A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24375"/>
            <a:ext cx="914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13D"/>
                </a:solidFill>
              </a:defRPr>
            </a:pPr>
            <a:r>
              <a:rPr sz="1650">
                <a:solidFill>
                  <a:srgbClr val="14213D"/>
                </a:solidFill>
              </a:rPr>
              <a:t>A / B → established or previously published</a:t>
            </a:r>
          </a:p>
          <a:p xmlns:a="http://schemas.openxmlformats.org/drawingml/2006/main">
            <a:pPr>
              <a:defRPr sz="1650">
                <a:solidFill>
                  <a:srgbClr val="14213D"/>
                </a:solidFill>
              </a:defRPr>
            </a:pPr>
            <a:r>
              <a:rPr sz="1650">
                <a:solidFill>
                  <a:srgbClr val="14213D"/>
                </a:solidFill>
              </a:rPr>
              <a:t>C → contradiction handling</a:t>
            </a:r>
          </a:p>
          <a:p xmlns:a="http://schemas.openxmlformats.org/drawingml/2006/main">
            <a:pPr>
              <a:defRPr sz="1650">
                <a:solidFill>
                  <a:srgbClr val="14213D"/>
                </a:solidFill>
              </a:defRPr>
            </a:pPr>
            <a:r>
              <a:rPr sz="1650">
                <a:solidFill>
                  <a:srgbClr val="14213D"/>
                </a:solidFill>
              </a:rPr>
              <a:t>D / E → eligible for peer review; never guaranteed novel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8018B0-87CD-496B-9CE3-AF72EA0E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27A"/>
                </a:solidFill>
              </a:defRPr>
            </a:pPr>
            <a:r>
              <a:rPr sz="825">
                <a:solidFill>
                  <a:srgbClr val="52627A"/>
                </a:solidFill>
              </a:rPr>
              <a:t>CausalAtlas · auditable mechanistic reasoning</a:t>
            </a:r>
          </a:p>
        </p:txBody>
      </p:sp>
    </p:spTree>
    <p:extLst>
      <p:ext uri="{BB962C8B-B14F-4D97-AF65-F5344CB8AC3E}">
        <p14:creationId xmlns:p14="http://schemas.microsoft.com/office/powerpoint/2010/main" val="16254845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7B080D-D108-4397-BBF6-D998A710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RELIABILITY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87B42-1324-430E-B9CA-F448BC9B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13D"/>
                </a:solidFill>
              </a:defRPr>
            </a:pPr>
            <a:r>
              <a:rPr sz="2625" b="1">
                <a:solidFill>
                  <a:srgbClr val="14213D"/>
                </a:solidFill>
              </a:rPr>
              <a:t>A run leaves evidence even when the answer is ‘not ready’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44859-9070-44AB-8E19-A296A4F5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4572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27A"/>
                </a:solidFill>
              </a:defRPr>
            </a:pPr>
            <a:r>
              <a:rPr sz="1200" b="1">
                <a:solidFill>
                  <a:srgbClr val="52627A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2DBD1-7B6F-479A-A93C-41A8CAE5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238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4A29F-AA3E-42B0-9190-11C4B35A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13D"/>
                </a:solidFill>
              </a:defRPr>
            </a:pPr>
            <a:r>
              <a:rPr sz="1575" b="1">
                <a:solidFill>
                  <a:srgbClr val="14213D"/>
                </a:solidFill>
              </a:rPr>
              <a:t>Raw JSONL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C5849-113D-451A-9671-8176B350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27A"/>
                </a:solidFill>
              </a:defRPr>
            </a:pPr>
            <a:r>
              <a:rPr sz="1350">
                <a:solidFill>
                  <a:srgbClr val="52627A"/>
                </a:solidFill>
              </a:rPr>
              <a:t>provider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BD50F-A2FB-43A1-9EB7-531CB6CD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193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27A"/>
                </a:solidFill>
              </a:defRPr>
            </a:pPr>
            <a:r>
              <a:rPr sz="1800" b="1">
                <a:solidFill>
                  <a:srgbClr val="5262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EC584-544D-4969-B807-4DC84BD2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95500"/>
            <a:ext cx="2238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09F48F-D1F7-4025-AD87-F184120D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81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13D"/>
                </a:solidFill>
              </a:defRPr>
            </a:pPr>
            <a:r>
              <a:rPr sz="1575" b="1">
                <a:solidFill>
                  <a:srgbClr val="14213D"/>
                </a:solidFill>
              </a:rPr>
              <a:t>Session artifacts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FA581-66A3-4FD8-A186-CDA6544E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003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27A"/>
                </a:solidFill>
              </a:defRPr>
            </a:pPr>
            <a:r>
              <a:rPr sz="1350">
                <a:solidFill>
                  <a:srgbClr val="52627A"/>
                </a:solidFill>
              </a:rPr>
              <a:t>checkpointed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3ED78-1A6E-409A-8BE1-A3DAD4AB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193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27A"/>
                </a:solidFill>
              </a:defRPr>
            </a:pPr>
            <a:r>
              <a:rPr sz="1800" b="1">
                <a:solidFill>
                  <a:srgbClr val="5262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2D6B0-0917-4334-B425-B1998E73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95500"/>
            <a:ext cx="2238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56937A-61A3-4AFC-8368-181BF57B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81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13D"/>
                </a:solidFill>
              </a:defRPr>
            </a:pPr>
            <a:r>
              <a:rPr sz="1575" b="1">
                <a:solidFill>
                  <a:srgbClr val="14213D"/>
                </a:solidFill>
              </a:rPr>
              <a:t>SQLite + SSE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7CFFD-7282-4C24-B5A1-509EAC27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003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27A"/>
                </a:solidFill>
              </a:defRPr>
            </a:pPr>
            <a:r>
              <a:rPr sz="1350">
                <a:solidFill>
                  <a:srgbClr val="52627A"/>
                </a:solidFill>
              </a:rPr>
              <a:t>durable event 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00092-8E4B-47D5-8550-6106E23F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19375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2627A"/>
                </a:solidFill>
              </a:defRPr>
            </a:pPr>
            <a:r>
              <a:rPr sz="1800" b="1">
                <a:solidFill>
                  <a:srgbClr val="52627A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51C8C1-1A87-4C7E-B6D1-8496D010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95500"/>
            <a:ext cx="2238375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410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73003-54B6-4E8A-A9BC-B3613047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81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213D"/>
                </a:solidFill>
              </a:defRPr>
            </a:pPr>
            <a:r>
              <a:rPr sz="1575" b="1">
                <a:solidFill>
                  <a:srgbClr val="14213D"/>
                </a:solidFill>
              </a:rPr>
              <a:t>Eval 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4806B9-DAFD-4BB2-AC72-59B169A8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003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27A"/>
                </a:solidFill>
              </a:defRPr>
            </a:pPr>
            <a:r>
              <a:rPr sz="1350">
                <a:solidFill>
                  <a:srgbClr val="52627A"/>
                </a:solidFill>
              </a:rPr>
              <a:t>error analysis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A969C9-FD3E-48C0-A237-6A2A43BC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477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BF5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CE9AA8-2A40-4C22-B472-466B0E21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990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Offline gate: 161 backend tests passed · frontend lint/typecheck/build passed · recorded replay is read-only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F1D673-5285-49F6-98A5-458B6E44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2627A"/>
                </a:solidFill>
              </a:defRPr>
            </a:pPr>
            <a:r>
              <a:rPr sz="825">
                <a:solidFill>
                  <a:srgbClr val="52627A"/>
                </a:solidFill>
              </a:rPr>
              <a:t>CausalAtlas · auditable mechanistic reasoning</a:t>
            </a:r>
          </a:p>
        </p:txBody>
      </p:sp>
    </p:spTree>
    <p:extLst>
      <p:ext uri="{BB962C8B-B14F-4D97-AF65-F5344CB8AC3E}">
        <p14:creationId xmlns:p14="http://schemas.microsoft.com/office/powerpoint/2010/main" val="1826032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504F0-2ABB-4603-A085-23ED2743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The demo is the argument.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976BC-1445-473D-A3E1-21E46220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C7D2FE"/>
                </a:solidFill>
              </a:defRPr>
            </a:pPr>
            <a:r>
              <a:rPr sz="2025">
                <a:solidFill>
                  <a:srgbClr val="C7D2FE"/>
                </a:solidFill>
              </a:rPr>
              <a:t>Open the recorded replay → inspect the graph → challenge the novelty gate → show the falsification test.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D8E16-E4BB-4967-A0CC-5173B2D0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4762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20345F"/>
          </a:solidFill>
          <a:ln xmlns:a="http://schemas.openxmlformats.org/drawingml/2006/main" w="9525">
            <a:solidFill>
              <a:srgbClr val="4D72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D5DCB-B234-4832-B43E-3DBE1B35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Evidence first.</a:t>
            </a:r>
          </a:p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Novelty second.</a:t>
            </a:r>
          </a:p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Falsification always.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E1F19-B44B-45E5-8B4E-FB5F078E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3C5FD"/>
                </a:solidFill>
              </a:defRPr>
            </a:pPr>
            <a:r>
              <a:rPr sz="1275" b="1">
                <a:solidFill>
                  <a:srgbClr val="93C5FD"/>
                </a:solidFill>
              </a:rPr>
              <a:t>CausalAtlas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508DC-EAEB-421C-A45D-4514C1E9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905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CBD5E1"/>
                </a:solidFill>
              </a:defRPr>
            </a:pPr>
            <a:r>
              <a:rPr sz="1200">
                <a:solidFill>
                  <a:srgbClr val="CBD5E1"/>
                </a:solidFill>
              </a:rPr>
              <a:t>Final Project · 2026</a:t>
            </a:r>
          </a:p>
        </p:txBody>
      </p:sp>
    </p:spTree>
    <p:extLst>
      <p:ext uri="{BB962C8B-B14F-4D97-AF65-F5344CB8AC3E}">
        <p14:creationId xmlns:p14="http://schemas.microsoft.com/office/powerpoint/2010/main" val="4066298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2026-07-29T11:53:52.4890000Z</dcterms:created>
  <dcterms:modified xsi:type="dcterms:W3CDTF">2026-07-29T11:53:52.4890000Z</dcterms:modified>
</coreProperties>
</file>